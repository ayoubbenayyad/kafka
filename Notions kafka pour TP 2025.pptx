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333" r:id="rId3"/>
    <p:sldId id="334" r:id="rId4"/>
    <p:sldId id="335" r:id="rId5"/>
    <p:sldId id="336" r:id="rId6"/>
    <p:sldId id="337" r:id="rId7"/>
    <p:sldId id="339" r:id="rId8"/>
    <p:sldId id="332" r:id="rId9"/>
    <p:sldId id="341" r:id="rId10"/>
    <p:sldId id="342" r:id="rId11"/>
    <p:sldId id="343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6E1115-D18A-5240-84EA-20A6BCE017B4}" v="2" dt="2025-10-07T07:45:26.445"/>
    <p1510:client id="{E1B76AA5-E922-B14B-BF29-A036EF11155C}" v="22" dt="2025-10-06T13:09:51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18"/>
    <p:restoredTop sz="94639"/>
  </p:normalViewPr>
  <p:slideViewPr>
    <p:cSldViewPr snapToGrid="0">
      <p:cViewPr varScale="1">
        <p:scale>
          <a:sx n="208" d="100"/>
          <a:sy n="208" d="100"/>
        </p:scale>
        <p:origin x="48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8E185-B928-B649-9CFF-53F038765FDB}" type="datetimeFigureOut">
              <a:rPr lang="fr-FR" smtClean="0"/>
              <a:t>07/10/2025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C2272-0761-C748-B2A2-933CC7A7EF4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53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C2272-0761-C748-B2A2-933CC7A7EF4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120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4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6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9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4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34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46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0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0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3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30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Un concept génétique abstrait">
            <a:extLst>
              <a:ext uri="{FF2B5EF4-FFF2-40B4-BE49-F238E27FC236}">
                <a16:creationId xmlns:a16="http://schemas.microsoft.com/office/drawing/2014/main" id="{C0EA53F8-E359-94A3-77A6-E566CED3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219" b="1153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7F1ECD-B7EF-7861-74C4-1250960F8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fr-FR" sz="3600" dirty="0"/>
              <a:t>Quelques concepts utiles aux TP </a:t>
            </a:r>
            <a:r>
              <a:rPr lang="fr-FR" sz="3600" dirty="0" err="1"/>
              <a:t>kafka</a:t>
            </a:r>
            <a:endParaRPr lang="fr-FR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0987469-BECA-E8F9-3A13-6A40E1940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fr-FR" sz="1800" dirty="0" err="1"/>
              <a:t>william.guyot@limos.fr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49467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8B929-7FA8-7F87-DE66-879C7F86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CLUSTER et flux de circulation des messages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CDF72F-6C0D-698A-8E42-435230D1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cluster = </a:t>
            </a:r>
            <a:r>
              <a:rPr lang="fr-FR" b="1" dirty="0"/>
              <a:t>regroupement de brokers</a:t>
            </a:r>
            <a:r>
              <a:rPr lang="fr-FR" dirty="0"/>
              <a:t> ; ils reçoivent les données des producteurs, les stockent et les servent aux consommateurs ; </a:t>
            </a:r>
            <a:r>
              <a:rPr lang="fr-FR" b="1" dirty="0"/>
              <a:t>rétention par défaut 1 semaine</a:t>
            </a:r>
            <a:r>
              <a:rPr lang="fr-FR" dirty="0"/>
              <a:t>.  </a:t>
            </a:r>
          </a:p>
          <a:p>
            <a:r>
              <a:rPr lang="fr-FR" dirty="0"/>
              <a:t>Chaîne simple : </a:t>
            </a:r>
            <a:r>
              <a:rPr lang="fr-FR" b="1" dirty="0"/>
              <a:t>producteurs → cluster (stocke) → consommateurs</a:t>
            </a:r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6880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23735-77C1-C2F0-FBCC-A0ED8B03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Partitions, réplication, offsets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7226F8-82B8-EC1A-C0A4-5784C7CD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72" y="2228129"/>
            <a:ext cx="10691265" cy="3739896"/>
          </a:xfrm>
        </p:spPr>
        <p:txBody>
          <a:bodyPr/>
          <a:lstStyle/>
          <a:p>
            <a:r>
              <a:rPr lang="fr-FR" dirty="0"/>
              <a:t>Les messages d’un sujet donné sont stockés dans un topic.</a:t>
            </a:r>
          </a:p>
          <a:p>
            <a:r>
              <a:rPr lang="fr-FR" dirty="0"/>
              <a:t>Les </a:t>
            </a:r>
            <a:r>
              <a:rPr lang="fr-FR" b="1" dirty="0"/>
              <a:t>messages d’un topic</a:t>
            </a:r>
            <a:r>
              <a:rPr lang="fr-FR" dirty="0"/>
              <a:t> sont répartis en </a:t>
            </a:r>
            <a:r>
              <a:rPr lang="fr-FR" b="1" dirty="0"/>
              <a:t>partitions</a:t>
            </a:r>
            <a:r>
              <a:rPr lang="fr-FR" dirty="0"/>
              <a:t>, elles-mêmes réparties sur les brokers ; chaque message est identifié par un </a:t>
            </a:r>
            <a:r>
              <a:rPr lang="fr-FR" b="1" dirty="0"/>
              <a:t>offset</a:t>
            </a:r>
            <a:r>
              <a:rPr lang="fr-FR" dirty="0"/>
              <a:t> ; </a:t>
            </a:r>
            <a:r>
              <a:rPr lang="fr-FR" b="1" dirty="0"/>
              <a:t>rétention configurable</a:t>
            </a:r>
            <a:r>
              <a:rPr lang="fr-FR" dirty="0"/>
              <a:t>.  </a:t>
            </a:r>
          </a:p>
          <a:p>
            <a:r>
              <a:rPr lang="fr-FR" b="1" dirty="0"/>
              <a:t>Réplication</a:t>
            </a:r>
            <a:r>
              <a:rPr lang="fr-FR" dirty="0"/>
              <a:t> (ex. RF=3 / </a:t>
            </a:r>
            <a:r>
              <a:rPr lang="fr-FR" dirty="0" err="1"/>
              <a:t>replication</a:t>
            </a:r>
            <a:r>
              <a:rPr lang="fr-FR" dirty="0"/>
              <a:t> factor = 3) : </a:t>
            </a:r>
          </a:p>
          <a:p>
            <a:pPr lvl="1"/>
            <a:r>
              <a:rPr lang="fr-FR" dirty="0"/>
              <a:t>Les partitions sont répliquées (</a:t>
            </a:r>
            <a:r>
              <a:rPr lang="fr-FR" dirty="0" err="1"/>
              <a:t>replication</a:t>
            </a:r>
            <a:r>
              <a:rPr lang="fr-FR" dirty="0"/>
              <a:t> </a:t>
            </a:r>
            <a:r>
              <a:rPr lang="fr-FR" dirty="0" err="1"/>
              <a:t>factopr</a:t>
            </a:r>
            <a:r>
              <a:rPr lang="fr-FR" dirty="0"/>
              <a:t>) ; </a:t>
            </a:r>
          </a:p>
          <a:p>
            <a:pPr lvl="1"/>
            <a:r>
              <a:rPr lang="fr-FR" b="1" dirty="0"/>
              <a:t>1 leader</a:t>
            </a:r>
            <a:r>
              <a:rPr lang="fr-FR" dirty="0"/>
              <a:t> et </a:t>
            </a:r>
            <a:r>
              <a:rPr lang="fr-FR" b="1" dirty="0"/>
              <a:t>0+ followers</a:t>
            </a:r>
            <a:r>
              <a:rPr lang="fr-FR" dirty="0"/>
              <a:t> ; </a:t>
            </a:r>
          </a:p>
          <a:p>
            <a:pPr lvl="1"/>
            <a:r>
              <a:rPr lang="fr-FR" b="1" dirty="0"/>
              <a:t>lectures/écritures via le leader</a:t>
            </a:r>
            <a:r>
              <a:rPr lang="fr-FR" dirty="0"/>
              <a:t>. 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50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3A4B9C-3D4F-6B2B-E7D5-BA6B0E8E2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399"/>
            <a:ext cx="5239272" cy="162114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700" b="1"/>
              <a:t>Consommateurs, offsets &amp; parallélisme</a:t>
            </a:r>
            <a:endParaRPr lang="fr-FR" sz="3700"/>
          </a:p>
        </p:txBody>
      </p:sp>
      <p:cxnSp>
        <p:nvCxnSpPr>
          <p:cNvPr id="11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Espace réservé du contenu 4" descr="Une image contenant texte, capture d’écran, diagramme, Police&#10;&#10;Description générée automatiquement">
            <a:extLst>
              <a:ext uri="{FF2B5EF4-FFF2-40B4-BE49-F238E27FC236}">
                <a16:creationId xmlns:a16="http://schemas.microsoft.com/office/drawing/2014/main" id="{39F96532-62F7-D9F3-C4AC-10B1F04E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72542"/>
            <a:ext cx="5138688" cy="2890512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7E813F-5A8A-B568-AAF7-537C94EE7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6176" y="914399"/>
            <a:ext cx="5138688" cy="5248657"/>
          </a:xfrm>
        </p:spPr>
        <p:txBody>
          <a:bodyPr>
            <a:normAutofit/>
          </a:bodyPr>
          <a:lstStyle/>
          <a:p>
            <a:r>
              <a:rPr lang="fr-FR" dirty="0"/>
              <a:t>Un consommateur lit 1..n topics ; l’</a:t>
            </a:r>
            <a:r>
              <a:rPr lang="fr-FR" b="1" dirty="0"/>
              <a:t>offset</a:t>
            </a:r>
            <a:r>
              <a:rPr lang="fr-FR" dirty="0"/>
              <a:t> (dernière position lue) est </a:t>
            </a:r>
            <a:r>
              <a:rPr lang="fr-FR" b="1" dirty="0"/>
              <a:t>stocké dans __</a:t>
            </a:r>
            <a:r>
              <a:rPr lang="fr-FR" b="1" dirty="0" err="1"/>
              <a:t>consumer_offsets</a:t>
            </a:r>
            <a:r>
              <a:rPr lang="fr-FR" dirty="0"/>
              <a:t> et permet la reprise après crash.    </a:t>
            </a:r>
          </a:p>
          <a:p>
            <a:r>
              <a:rPr lang="fr-FR" b="1" dirty="0"/>
              <a:t>Consumer group</a:t>
            </a:r>
            <a:r>
              <a:rPr lang="fr-FR" dirty="0"/>
              <a:t> = 1..n instances « clones » partageant un même </a:t>
            </a:r>
            <a:r>
              <a:rPr lang="fr-FR" dirty="0" err="1"/>
              <a:t>group.id</a:t>
            </a:r>
            <a:r>
              <a:rPr lang="fr-FR" dirty="0"/>
              <a:t> ; la </a:t>
            </a:r>
            <a:r>
              <a:rPr lang="fr-FR" b="1" dirty="0"/>
              <a:t>parallélisation</a:t>
            </a:r>
            <a:r>
              <a:rPr lang="fr-FR" dirty="0"/>
              <a:t> est limitée par le </a:t>
            </a:r>
            <a:r>
              <a:rPr lang="fr-FR" b="1" dirty="0"/>
              <a:t>nombre de partitions</a:t>
            </a:r>
            <a:r>
              <a:rPr lang="fr-FR" dirty="0"/>
              <a:t>.  </a:t>
            </a:r>
          </a:p>
          <a:p>
            <a:r>
              <a:rPr lang="fr-FR" b="1" dirty="0"/>
              <a:t>Scalabilité</a:t>
            </a:r>
            <a:r>
              <a:rPr lang="fr-FR" dirty="0"/>
              <a:t> : jusqu’à ~</a:t>
            </a:r>
            <a:r>
              <a:rPr lang="fr-FR" b="1" dirty="0"/>
              <a:t>50 brokers</a:t>
            </a:r>
            <a:r>
              <a:rPr lang="fr-FR" dirty="0"/>
              <a:t> et </a:t>
            </a:r>
            <a:r>
              <a:rPr lang="fr-FR" b="1" dirty="0"/>
              <a:t>≈4000 partitions/broker</a:t>
            </a:r>
            <a:r>
              <a:rPr lang="fr-FR" dirty="0"/>
              <a:t> en pratique ; la limite réelle côté lecture est le </a:t>
            </a:r>
            <a:r>
              <a:rPr lang="fr-FR" b="1" dirty="0"/>
              <a:t>nombre de clés</a:t>
            </a:r>
            <a:r>
              <a:rPr lang="fr-FR" dirty="0"/>
              <a:t>. 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8784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AEFD9-CA5B-6CFD-AA36-5DEAE8E5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Producteurs : partitionnement, envoi, garanties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8030DA-30B6-4DC9-1D04-1003E192B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/>
              <a:t>Bases : envoi de </a:t>
            </a:r>
            <a:r>
              <a:rPr lang="fr-FR" b="1" dirty="0"/>
              <a:t>messages</a:t>
            </a:r>
            <a:r>
              <a:rPr lang="fr-FR" dirty="0"/>
              <a:t> (multi-langages, REST proxy, CLI) aux brokers.  </a:t>
            </a:r>
          </a:p>
          <a:p>
            <a:r>
              <a:rPr lang="fr-FR" b="1" dirty="0"/>
              <a:t>Partitionnement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objectif équilibrer le débit + sémantique (préserver le sens métier); </a:t>
            </a:r>
          </a:p>
          <a:p>
            <a:pPr lvl="1"/>
            <a:r>
              <a:rPr lang="fr-FR" b="1" dirty="0"/>
              <a:t>clés</a:t>
            </a:r>
            <a:r>
              <a:rPr lang="fr-FR" dirty="0"/>
              <a:t> =&gt; par défaut </a:t>
            </a:r>
            <a:r>
              <a:rPr lang="fr-FR" b="1" dirty="0"/>
              <a:t>MurMur2(key) % </a:t>
            </a:r>
            <a:r>
              <a:rPr lang="fr-FR" b="1" dirty="0" err="1"/>
              <a:t>nb_partitions</a:t>
            </a:r>
            <a:r>
              <a:rPr lang="fr-FR" dirty="0"/>
              <a:t> ; </a:t>
            </a:r>
          </a:p>
          <a:p>
            <a:pPr lvl="1"/>
            <a:r>
              <a:rPr lang="fr-FR" b="1" dirty="0"/>
              <a:t>sans clé → round-robin</a:t>
            </a:r>
            <a:r>
              <a:rPr lang="fr-FR" dirty="0"/>
              <a:t>.  </a:t>
            </a:r>
          </a:p>
          <a:p>
            <a:r>
              <a:rPr lang="fr-FR" b="1" dirty="0"/>
              <a:t>Chemin d’envoi</a:t>
            </a:r>
            <a:r>
              <a:rPr lang="fr-FR" dirty="0"/>
              <a:t> : sérialisation → batch → flush → écriture log → </a:t>
            </a:r>
            <a:r>
              <a:rPr lang="fr-FR" b="1" dirty="0"/>
              <a:t>ACK/NACK</a:t>
            </a:r>
            <a:r>
              <a:rPr lang="fr-FR" dirty="0"/>
              <a:t> ; exceptions si ré-essais épuisés.  </a:t>
            </a:r>
          </a:p>
          <a:p>
            <a:r>
              <a:rPr lang="fr-FR" b="1" dirty="0"/>
              <a:t>Niveau de ACKS</a:t>
            </a:r>
            <a:r>
              <a:rPr lang="fr-FR" dirty="0"/>
              <a:t> demandé : </a:t>
            </a:r>
          </a:p>
          <a:p>
            <a:pPr lvl="1"/>
            <a:r>
              <a:rPr lang="fr-FR" dirty="0"/>
              <a:t>0 (aucune garantie), </a:t>
            </a:r>
          </a:p>
          <a:p>
            <a:pPr lvl="1"/>
            <a:r>
              <a:rPr lang="fr-FR" dirty="0"/>
              <a:t>1 (leader seul), </a:t>
            </a:r>
          </a:p>
          <a:p>
            <a:pPr lvl="1"/>
            <a:r>
              <a:rPr lang="fr-FR" dirty="0"/>
              <a:t>-1/ALL (leader + followers ISR) ; renforcer la tolérance via </a:t>
            </a:r>
            <a:r>
              <a:rPr lang="fr-FR" b="1" dirty="0" err="1"/>
              <a:t>min.insync.replicas</a:t>
            </a:r>
            <a:r>
              <a:rPr lang="fr-FR" dirty="0"/>
              <a:t>. 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11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4AE9D4-586A-3457-8F2A-062C0601F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Rétention &amp; exploitation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F4A4F9-80CC-1E9A-D7F2-D75E69C31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Rétention</a:t>
            </a:r>
            <a:r>
              <a:rPr lang="fr-FR" dirty="0"/>
              <a:t> : </a:t>
            </a:r>
          </a:p>
          <a:p>
            <a:pPr lvl="1"/>
            <a:r>
              <a:rPr lang="fr-FR" dirty="0"/>
              <a:t>configurable globalement/par topic ; </a:t>
            </a:r>
          </a:p>
          <a:p>
            <a:pPr lvl="1"/>
            <a:r>
              <a:rPr lang="fr-FR" b="1" dirty="0"/>
              <a:t>topics compactés</a:t>
            </a:r>
            <a:r>
              <a:rPr lang="fr-FR" dirty="0"/>
              <a:t> conservent la </a:t>
            </a:r>
            <a:r>
              <a:rPr lang="fr-FR" b="1" dirty="0"/>
              <a:t>dernière version</a:t>
            </a:r>
            <a:r>
              <a:rPr lang="fr-FR" dirty="0"/>
              <a:t> par clé.  </a:t>
            </a:r>
          </a:p>
          <a:p>
            <a:r>
              <a:rPr lang="fr-FR" b="1" dirty="0"/>
              <a:t>Dépannage/</a:t>
            </a:r>
            <a:r>
              <a:rPr lang="fr-FR" b="1" dirty="0" err="1"/>
              <a:t>ops</a:t>
            </a:r>
            <a:r>
              <a:rPr lang="fr-FR" dirty="0"/>
              <a:t> (Control Center) : </a:t>
            </a:r>
          </a:p>
          <a:p>
            <a:pPr lvl="1"/>
            <a:r>
              <a:rPr lang="fr-FR" dirty="0"/>
              <a:t>accès config, </a:t>
            </a:r>
          </a:p>
          <a:p>
            <a:pPr lvl="1"/>
            <a:r>
              <a:rPr lang="fr-FR" b="1" dirty="0"/>
              <a:t>monitoring perf</a:t>
            </a:r>
            <a:r>
              <a:rPr lang="fr-FR" dirty="0"/>
              <a:t>, </a:t>
            </a:r>
          </a:p>
          <a:p>
            <a:pPr lvl="1"/>
            <a:r>
              <a:rPr lang="fr-FR" b="1" dirty="0"/>
              <a:t>lag</a:t>
            </a:r>
            <a:r>
              <a:rPr lang="fr-FR" dirty="0"/>
              <a:t> des consommateurs, </a:t>
            </a:r>
          </a:p>
          <a:p>
            <a:pPr lvl="1"/>
            <a:r>
              <a:rPr lang="fr-FR" b="1" dirty="0"/>
              <a:t>alertes</a:t>
            </a:r>
            <a:r>
              <a:rPr lang="fr-FR" dirty="0"/>
              <a:t>, </a:t>
            </a:r>
          </a:p>
          <a:p>
            <a:pPr lvl="1"/>
            <a:r>
              <a:rPr lang="fr-FR" b="1" dirty="0" err="1"/>
              <a:t>dashboards</a:t>
            </a:r>
            <a:r>
              <a:rPr lang="fr-FR" dirty="0"/>
              <a:t>, </a:t>
            </a:r>
          </a:p>
          <a:p>
            <a:pPr lvl="1"/>
            <a:r>
              <a:rPr lang="fr-FR" dirty="0"/>
              <a:t>Sécurité,</a:t>
            </a:r>
          </a:p>
          <a:p>
            <a:pPr lvl="1"/>
            <a:r>
              <a:rPr lang="fr-FR" dirty="0" err="1"/>
              <a:t>ksqlDB</a:t>
            </a:r>
            <a:r>
              <a:rPr lang="fr-FR" dirty="0"/>
              <a:t>, </a:t>
            </a:r>
            <a:r>
              <a:rPr lang="fr-FR" dirty="0" err="1"/>
              <a:t>Streams</a:t>
            </a:r>
            <a:r>
              <a:rPr lang="fr-FR" dirty="0"/>
              <a:t> etc…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379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424A5-E52E-CA44-B500-C95A499A8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Confluent Control Center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9BDB3-3538-AB96-E365-DDC695A8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Surveillance &amp; santé du cluster.</a:t>
            </a:r>
            <a:r>
              <a:rPr lang="fr-FR" dirty="0"/>
              <a:t> Interface web pour suivre brokers, topics et surtout le </a:t>
            </a:r>
            <a:r>
              <a:rPr lang="fr-FR" b="1" dirty="0"/>
              <a:t>lag des groupes de consommateurs</a:t>
            </a:r>
            <a:r>
              <a:rPr lang="fr-FR" dirty="0"/>
              <a:t>, avec vues synthétiques et historiques. </a:t>
            </a:r>
          </a:p>
          <a:p>
            <a:r>
              <a:rPr lang="fr-FR" b="1" dirty="0" err="1"/>
              <a:t>ksqlDB</a:t>
            </a:r>
            <a:r>
              <a:rPr lang="fr-FR" b="1" dirty="0"/>
              <a:t> – Flow </a:t>
            </a:r>
            <a:r>
              <a:rPr lang="fr-FR" b="1" dirty="0" err="1"/>
              <a:t>View</a:t>
            </a:r>
            <a:r>
              <a:rPr lang="fr-FR" b="1" dirty="0"/>
              <a:t>.</a:t>
            </a:r>
            <a:r>
              <a:rPr lang="fr-FR" dirty="0"/>
              <a:t> Visualise la topologie (</a:t>
            </a:r>
            <a:r>
              <a:rPr lang="fr-FR" dirty="0" err="1"/>
              <a:t>streams</a:t>
            </a:r>
            <a:r>
              <a:rPr lang="fr-FR" dirty="0"/>
              <a:t>, tables, requêtes) et le </a:t>
            </a:r>
            <a:r>
              <a:rPr lang="fr-FR" b="1" dirty="0"/>
              <a:t>passage d’événements</a:t>
            </a:r>
            <a:r>
              <a:rPr lang="fr-FR" dirty="0"/>
              <a:t> pour diagnostiquer rapidement une pipeline.    </a:t>
            </a:r>
          </a:p>
          <a:p>
            <a:r>
              <a:rPr lang="fr-FR" b="1" dirty="0"/>
              <a:t>Ops &amp; dépannage.</a:t>
            </a:r>
            <a:r>
              <a:rPr lang="fr-FR" dirty="0"/>
              <a:t> Accès aux </a:t>
            </a:r>
            <a:r>
              <a:rPr lang="fr-FR" b="1" dirty="0"/>
              <a:t>configurations</a:t>
            </a:r>
            <a:r>
              <a:rPr lang="fr-FR" dirty="0"/>
              <a:t>, </a:t>
            </a:r>
            <a:r>
              <a:rPr lang="fr-FR" b="1" dirty="0" err="1"/>
              <a:t>dashboards</a:t>
            </a:r>
            <a:r>
              <a:rPr lang="fr-FR" dirty="0"/>
              <a:t>, </a:t>
            </a:r>
            <a:r>
              <a:rPr lang="fr-FR" b="1" dirty="0"/>
              <a:t>alertes sur seuils</a:t>
            </a:r>
            <a:r>
              <a:rPr lang="fr-FR" dirty="0"/>
              <a:t> (e-mail/REST), et aides au </a:t>
            </a:r>
            <a:r>
              <a:rPr lang="fr-FR" b="1" dirty="0"/>
              <a:t>dépannage sécurité</a:t>
            </a:r>
            <a:r>
              <a:rPr lang="fr-FR" dirty="0"/>
              <a:t> (RBAC, TLS/REST </a:t>
            </a:r>
            <a:r>
              <a:rPr lang="fr-FR" dirty="0" err="1"/>
              <a:t>listeners</a:t>
            </a:r>
            <a:r>
              <a:rPr lang="fr-FR" dirty="0"/>
              <a:t>).   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444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32B82-26BF-895A-BA03-8CEC202C5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Concepts clés autour de </a:t>
            </a:r>
            <a:r>
              <a:rPr lang="fr-FR" dirty="0" err="1"/>
              <a:t>ksqlDB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38D442-3F09-E371-DCCA-755A58EA5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FR" b="1" dirty="0" err="1"/>
              <a:t>ksqlDB</a:t>
            </a:r>
            <a:r>
              <a:rPr lang="fr-FR" dirty="0"/>
              <a:t> — Base de données orientée flux au-dessus de Kafka : on écrit des requêtes SQL pour transformer des topics en </a:t>
            </a:r>
            <a:r>
              <a:rPr lang="fr-FR" dirty="0" err="1"/>
              <a:t>streams</a:t>
            </a:r>
            <a:r>
              <a:rPr lang="fr-FR" dirty="0"/>
              <a:t> et tables, faire des jointures, des fenêtres et exposer des résultats (push/pull). Pensé pour créer des applis de </a:t>
            </a:r>
            <a:r>
              <a:rPr lang="fr-FR" dirty="0" err="1"/>
              <a:t>stream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sans coder.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Stream (</a:t>
            </a:r>
            <a:r>
              <a:rPr lang="fr-FR" b="1" dirty="0" err="1"/>
              <a:t>ksqlDB</a:t>
            </a:r>
            <a:r>
              <a:rPr lang="fr-FR" b="1" dirty="0"/>
              <a:t>)</a:t>
            </a:r>
            <a:r>
              <a:rPr lang="fr-FR" dirty="0"/>
              <a:t> — Collection partitionnée, immuable et append-</a:t>
            </a:r>
            <a:r>
              <a:rPr lang="fr-FR" dirty="0" err="1"/>
              <a:t>only</a:t>
            </a:r>
            <a:r>
              <a:rPr lang="fr-FR" dirty="0"/>
              <a:t> représentant une suite d’événements (les faits historiques d’un topic). On n’édite jamais un événement ; on en ajoute de nouveaux.</a:t>
            </a:r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  <a:p>
            <a:r>
              <a:rPr lang="fr-FR" b="1" dirty="0"/>
              <a:t>Flow (Control Center)</a:t>
            </a:r>
            <a:r>
              <a:rPr lang="fr-FR" dirty="0"/>
              <a:t> — Vue graphique de </a:t>
            </a:r>
            <a:r>
              <a:rPr lang="fr-FR" dirty="0" err="1"/>
              <a:t>ksqlDB</a:t>
            </a:r>
            <a:r>
              <a:rPr lang="fr-FR" dirty="0"/>
              <a:t> dans Confluent Control Center qui montre l topologie de traitement : sources, </a:t>
            </a:r>
            <a:r>
              <a:rPr lang="fr-FR" dirty="0" err="1"/>
              <a:t>streams</a:t>
            </a:r>
            <a:r>
              <a:rPr lang="fr-FR" dirty="0"/>
              <a:t>/tables, requêtes persistantes et leurs liens, pour suivre le passage des messages et déboguer. </a:t>
            </a:r>
          </a:p>
          <a:p>
            <a:pPr marL="0" indent="0">
              <a:buNone/>
            </a:pPr>
            <a:br>
              <a:rPr lang="fr-FR" dirty="0"/>
            </a:br>
            <a:endParaRPr lang="fr-FR" dirty="0"/>
          </a:p>
          <a:p>
            <a:r>
              <a:rPr lang="fr-FR" b="1" dirty="0"/>
              <a:t>Table (</a:t>
            </a:r>
            <a:r>
              <a:rPr lang="fr-FR" b="1" dirty="0" err="1"/>
              <a:t>ksqlDB</a:t>
            </a:r>
            <a:r>
              <a:rPr lang="fr-FR" b="1" dirty="0"/>
              <a:t>, dans les </a:t>
            </a:r>
            <a:r>
              <a:rPr lang="fr-FR" b="1" dirty="0" err="1"/>
              <a:t>streams</a:t>
            </a:r>
            <a:r>
              <a:rPr lang="fr-FR" b="1" dirty="0"/>
              <a:t>)</a:t>
            </a:r>
            <a:r>
              <a:rPr lang="fr-FR" dirty="0"/>
              <a:t> — Collection mutable et matérialisée qui modèle l’état “courant” par clé (ex. dernière valeur par ville). Elle sert aux agrégations/jointures et peut être interrogée en PULL comme une vue matérialisée.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884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BAFB7-E349-5482-73EA-8A3F087C2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</a:t>
            </a:r>
            <a:r>
              <a:rPr lang="fr-FR" dirty="0" err="1"/>
              <a:t>sql</a:t>
            </a:r>
            <a:r>
              <a:rPr lang="fr-FR" dirty="0"/>
              <a:t> pour </a:t>
            </a:r>
            <a:r>
              <a:rPr lang="fr-FR" dirty="0" err="1"/>
              <a:t>kafka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1DA860-8196-85AA-7529-01A3E5919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ksqlDB</a:t>
            </a:r>
            <a:endParaRPr lang="fr-FR" dirty="0"/>
          </a:p>
        </p:txBody>
      </p:sp>
      <p:pic>
        <p:nvPicPr>
          <p:cNvPr id="4" name="Image 3" descr="Une image contenant texte, Police, capture d’écran, blanc&#10;&#10;Description générée automatiquement">
            <a:extLst>
              <a:ext uri="{FF2B5EF4-FFF2-40B4-BE49-F238E27FC236}">
                <a16:creationId xmlns:a16="http://schemas.microsoft.com/office/drawing/2014/main" id="{CE439035-5059-2A62-BA29-0FADC8ADD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12" y="3892909"/>
            <a:ext cx="67691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34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25D5E1-19C0-2FD7-28A4-256F7202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Quand utiliser quoi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9A60FB-6CC1-71FD-2D7D-BF482D6A5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i="1" dirty="0" err="1"/>
              <a:t>Streams</a:t>
            </a:r>
            <a:r>
              <a:rPr lang="fr-FR" dirty="0"/>
              <a:t> = flux d’événements illimités ; </a:t>
            </a:r>
          </a:p>
          <a:p>
            <a:r>
              <a:rPr lang="fr-FR" i="1" dirty="0"/>
              <a:t>Tables</a:t>
            </a:r>
            <a:r>
              <a:rPr lang="fr-FR" dirty="0"/>
              <a:t> = </a:t>
            </a:r>
            <a:r>
              <a:rPr lang="fr-FR" b="1" dirty="0"/>
              <a:t>état courant par clé</a:t>
            </a:r>
            <a:r>
              <a:rPr lang="fr-FR" dirty="0"/>
              <a:t> (interprétation « changelog »). </a:t>
            </a:r>
          </a:p>
          <a:p>
            <a:r>
              <a:rPr lang="fr-FR" b="1" dirty="0"/>
              <a:t>Types de requêtes.</a:t>
            </a:r>
            <a:endParaRPr lang="fr-FR" dirty="0"/>
          </a:p>
          <a:p>
            <a:pPr lvl="1"/>
            <a:r>
              <a:rPr lang="fr-FR" b="1" dirty="0"/>
              <a:t>Push</a:t>
            </a:r>
            <a:r>
              <a:rPr lang="fr-FR" dirty="0"/>
              <a:t> (SELECT … EMIT CHANGES) : flux continu de résultats.</a:t>
            </a:r>
          </a:p>
          <a:p>
            <a:pPr lvl="1"/>
            <a:r>
              <a:rPr lang="fr-FR" b="1" dirty="0"/>
              <a:t>Pull</a:t>
            </a:r>
            <a:r>
              <a:rPr lang="fr-FR" dirty="0"/>
              <a:t> (SELECT … WHERE KEY=…) : </a:t>
            </a:r>
            <a:r>
              <a:rPr lang="fr-FR" b="1" dirty="0"/>
              <a:t>instantané</a:t>
            </a:r>
            <a:r>
              <a:rPr lang="fr-FR" dirty="0"/>
              <a:t> sur une table matérialisée, puis fin.  </a:t>
            </a:r>
          </a:p>
          <a:p>
            <a:r>
              <a:rPr lang="fr-FR" b="1" dirty="0"/>
              <a:t>Quand utiliser quoi ?</a:t>
            </a:r>
            <a:endParaRPr lang="fr-FR" dirty="0"/>
          </a:p>
          <a:p>
            <a:pPr lvl="1"/>
            <a:r>
              <a:rPr lang="fr-FR" i="1" dirty="0"/>
              <a:t>Stream</a:t>
            </a:r>
            <a:r>
              <a:rPr lang="fr-FR" dirty="0"/>
              <a:t> traiter chaque événement tel quel ; </a:t>
            </a:r>
          </a:p>
          <a:p>
            <a:pPr lvl="1"/>
            <a:r>
              <a:rPr lang="fr-FR" i="1" dirty="0"/>
              <a:t>Table</a:t>
            </a:r>
            <a:r>
              <a:rPr lang="fr-FR" dirty="0"/>
              <a:t> si on a besoin d’</a:t>
            </a:r>
            <a:r>
              <a:rPr lang="fr-FR" b="1" dirty="0"/>
              <a:t>agrégations/joins</a:t>
            </a:r>
            <a:r>
              <a:rPr lang="fr-FR" dirty="0"/>
              <a:t> et de </a:t>
            </a:r>
            <a:r>
              <a:rPr lang="fr-FR" b="1" dirty="0" err="1"/>
              <a:t>lookups</a:t>
            </a:r>
            <a:r>
              <a:rPr lang="fr-FR" b="1" dirty="0"/>
              <a:t> par clé</a:t>
            </a:r>
            <a:r>
              <a:rPr lang="fr-FR" dirty="0"/>
              <a:t> (et donc de </a:t>
            </a:r>
            <a:r>
              <a:rPr lang="fr-FR" b="1" dirty="0"/>
              <a:t>pull </a:t>
            </a:r>
            <a:r>
              <a:rPr lang="fr-FR" b="1" dirty="0" err="1"/>
              <a:t>queries</a:t>
            </a:r>
            <a:r>
              <a:rPr lang="fr-FR" dirty="0"/>
              <a:t> rapides). 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3923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2EC63F-250A-C5EB-DBB6-0A46690D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4" descr="Une image contenant texte, capture d’écran, logiciel, Page web&#10;&#10;Description générée automatiquement">
            <a:extLst>
              <a:ext uri="{FF2B5EF4-FFF2-40B4-BE49-F238E27FC236}">
                <a16:creationId xmlns:a16="http://schemas.microsoft.com/office/drawing/2014/main" id="{EFA7F5B5-2F88-E789-A115-87891AE0DB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246" y="1937656"/>
            <a:ext cx="7655508" cy="391851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092716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a16bd04-b475-49ff-b11a-c6c8359db1b1}" enabled="0" method="" siteId="{5a16bd04-b475-49ff-b11a-c6c8359db1b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746</Words>
  <Application>Microsoft Macintosh PowerPoint</Application>
  <PresentationFormat>Grand écran</PresentationFormat>
  <Paragraphs>63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Calisto MT</vt:lpstr>
      <vt:lpstr>Univers Condensed</vt:lpstr>
      <vt:lpstr>ChronicleVTI</vt:lpstr>
      <vt:lpstr>Quelques concepts utiles aux TP kafka</vt:lpstr>
      <vt:lpstr>CLUSTER et flux de circulation des messages</vt:lpstr>
      <vt:lpstr>Partitions, réplication, offsets</vt:lpstr>
      <vt:lpstr>Consommateurs, offsets &amp; parallélisme</vt:lpstr>
      <vt:lpstr>Producteurs : partitionnement, envoi, garanties</vt:lpstr>
      <vt:lpstr>Rétention &amp; exploitation</vt:lpstr>
      <vt:lpstr>Confluent Control Center</vt:lpstr>
      <vt:lpstr>Concepts clés autour de ksqlDB</vt:lpstr>
      <vt:lpstr>Exemple de sql pour kafka</vt:lpstr>
      <vt:lpstr>Quand utiliser quoi ?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GUYOT LENAT</dc:creator>
  <cp:lastModifiedBy>William GUYOT LENAT</cp:lastModifiedBy>
  <cp:revision>2</cp:revision>
  <dcterms:created xsi:type="dcterms:W3CDTF">2025-10-06T11:57:58Z</dcterms:created>
  <dcterms:modified xsi:type="dcterms:W3CDTF">2025-10-07T07:48:18Z</dcterms:modified>
</cp:coreProperties>
</file>